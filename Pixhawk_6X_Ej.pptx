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91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4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esquematico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 cuadricoptero con Pixhawk 6X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794760"/>
            <a:ext cx="2926080" cy="0"/>
          </a:xfrm>
          <a:prstGeom prst="line">
            <a:avLst/>
          </a:prstGeom>
          <a:noFill/>
          <a:ln w="38100">
            <a:solidFill>
              <a:srgbClr val="0F6E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023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tecnico de referencia — componentes, puertos y tipos de cableado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8679" y="116586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general del dron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58679" y="4709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superior esquematica — posicion fisica real de cada componente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H="1" flipV="1">
            <a:off x="1874520" y="1325880"/>
            <a:ext cx="4251960" cy="2651760"/>
          </a:xfrm>
          <a:prstGeom prst="line">
            <a:avLst/>
          </a:prstGeom>
          <a:noFill/>
          <a:ln w="127000">
            <a:solidFill>
              <a:srgbClr val="C9CC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6126480" y="1325880"/>
            <a:ext cx="4206240" cy="2651760"/>
          </a:xfrm>
          <a:prstGeom prst="line">
            <a:avLst/>
          </a:prstGeom>
          <a:noFill/>
          <a:ln w="127000">
            <a:solidFill>
              <a:srgbClr val="C9C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1874520" y="3977640"/>
            <a:ext cx="4251960" cy="2377440"/>
          </a:xfrm>
          <a:prstGeom prst="line">
            <a:avLst/>
          </a:prstGeom>
          <a:noFill/>
          <a:ln w="127000">
            <a:solidFill>
              <a:srgbClr val="C9CC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3977640"/>
            <a:ext cx="4206240" cy="2377440"/>
          </a:xfrm>
          <a:prstGeom prst="line">
            <a:avLst/>
          </a:prstGeom>
          <a:noFill/>
          <a:ln w="127000">
            <a:solidFill>
              <a:srgbClr val="C9CC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3787902" y="2519172"/>
            <a:ext cx="2338578" cy="1778508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126480" y="2519172"/>
            <a:ext cx="2313432" cy="1778508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3787902" y="4297680"/>
            <a:ext cx="2338578" cy="987552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4297680"/>
            <a:ext cx="2313432" cy="987552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 flipV="1">
            <a:off x="3787902" y="2519172"/>
            <a:ext cx="2338578" cy="1275588"/>
          </a:xfrm>
          <a:prstGeom prst="line">
            <a:avLst/>
          </a:prstGeom>
          <a:noFill/>
          <a:ln w="12700">
            <a:solidFill>
              <a:srgbClr val="2874A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 flipV="1">
            <a:off x="6126480" y="2519172"/>
            <a:ext cx="2313432" cy="1275588"/>
          </a:xfrm>
          <a:prstGeom prst="line">
            <a:avLst/>
          </a:prstGeom>
          <a:noFill/>
          <a:ln w="12700">
            <a:solidFill>
              <a:srgbClr val="2874A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 flipH="1">
            <a:off x="3787902" y="3794760"/>
            <a:ext cx="2338578" cy="1490472"/>
          </a:xfrm>
          <a:prstGeom prst="line">
            <a:avLst/>
          </a:prstGeom>
          <a:noFill/>
          <a:ln w="12700">
            <a:solidFill>
              <a:srgbClr val="2874A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126480" y="3794760"/>
            <a:ext cx="2313432" cy="1490472"/>
          </a:xfrm>
          <a:prstGeom prst="line">
            <a:avLst/>
          </a:prstGeom>
          <a:noFill/>
          <a:ln w="12700">
            <a:solidFill>
              <a:srgbClr val="2874A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flipV="1">
            <a:off x="6126480" y="1417320"/>
            <a:ext cx="9144" cy="2148840"/>
          </a:xfrm>
          <a:prstGeom prst="line">
            <a:avLst/>
          </a:prstGeom>
          <a:noFill/>
          <a:ln w="22225">
            <a:solidFill>
              <a:srgbClr val="16A0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812280" y="3520440"/>
            <a:ext cx="2834640" cy="365760"/>
          </a:xfrm>
          <a:prstGeom prst="line">
            <a:avLst/>
          </a:prstGeom>
          <a:noFill/>
          <a:ln w="12700">
            <a:solidFill>
              <a:srgbClr val="6C5CE7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 flipV="1">
            <a:off x="6812280" y="1828800"/>
            <a:ext cx="2834640" cy="1874520"/>
          </a:xfrm>
          <a:prstGeom prst="line">
            <a:avLst/>
          </a:prstGeom>
          <a:noFill/>
          <a:ln w="12700">
            <a:solidFill>
              <a:srgbClr val="6C5CE7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 flipH="1" flipV="1">
            <a:off x="2651760" y="3520440"/>
            <a:ext cx="2788920" cy="365760"/>
          </a:xfrm>
          <a:prstGeom prst="line">
            <a:avLst/>
          </a:prstGeom>
          <a:noFill/>
          <a:ln w="12700">
            <a:solidFill>
              <a:srgbClr val="16A085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 flipH="1">
            <a:off x="2651760" y="4114800"/>
            <a:ext cx="2788920" cy="960120"/>
          </a:xfrm>
          <a:prstGeom prst="line">
            <a:avLst/>
          </a:prstGeom>
          <a:noFill/>
          <a:ln w="15875">
            <a:solidFill>
              <a:srgbClr val="D68910"/>
            </a:solidFill>
            <a:prstDash val="lgDash"/>
          </a:ln>
        </p:spPr>
      </p:sp>
      <p:sp>
        <p:nvSpPr>
          <p:cNvPr id="21" name="Shape 19"/>
          <p:cNvSpPr/>
          <p:nvPr/>
        </p:nvSpPr>
        <p:spPr>
          <a:xfrm>
            <a:off x="1581912" y="1033272"/>
            <a:ext cx="585216" cy="585216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81912" y="1033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F5E5A"/>
                </a:solidFill>
              </a:rPr>
              <a:t>M1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77006" y="2372868"/>
            <a:ext cx="621792" cy="292608"/>
          </a:xfrm>
          <a:prstGeom prst="roundRect">
            <a:avLst>
              <a:gd name="adj" fmla="val 25000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7006" y="237286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A7517"/>
                </a:solidFill>
              </a:rPr>
              <a:t>ESC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040112" y="1033272"/>
            <a:ext cx="585216" cy="585216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40112" y="1033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F5E5A"/>
                </a:solidFill>
              </a:rPr>
              <a:t>M2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129016" y="2372868"/>
            <a:ext cx="621792" cy="292608"/>
          </a:xfrm>
          <a:prstGeom prst="roundRect">
            <a:avLst>
              <a:gd name="adj" fmla="val 25000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29016" y="237286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A7517"/>
                </a:solidFill>
              </a:rPr>
              <a:t>ESC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581912" y="6062472"/>
            <a:ext cx="585216" cy="585216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81912" y="6062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F5E5A"/>
                </a:solidFill>
              </a:rPr>
              <a:t>M3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77006" y="5138928"/>
            <a:ext cx="621792" cy="292608"/>
          </a:xfrm>
          <a:prstGeom prst="roundRect">
            <a:avLst>
              <a:gd name="adj" fmla="val 25000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7006" y="513892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A7517"/>
                </a:solidFill>
              </a:rPr>
              <a:t>ESC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040112" y="6062472"/>
            <a:ext cx="585216" cy="585216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40112" y="6062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F5E5A"/>
                </a:solidFill>
              </a:rPr>
              <a:t>M4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129016" y="5138928"/>
            <a:ext cx="621792" cy="292608"/>
          </a:xfrm>
          <a:prstGeom prst="roundRect">
            <a:avLst>
              <a:gd name="adj" fmla="val 25000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29016" y="513892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A7517"/>
                </a:solidFill>
              </a:rPr>
              <a:t>ESC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669280" y="416052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4160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34AB7"/>
                </a:solidFill>
              </a:rPr>
              <a:t>PDB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23560" y="4617720"/>
            <a:ext cx="1005840" cy="960120"/>
          </a:xfrm>
          <a:prstGeom prst="roundRect">
            <a:avLst>
              <a:gd name="adj" fmla="val 7619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23560" y="461772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3C1D"/>
                </a:solidFill>
              </a:rPr>
              <a:t>BATERIA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93C1D"/>
                </a:solidFill>
              </a:rPr>
              <a:t>LiPo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49240" y="34747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49240" y="3474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5FA5"/>
                </a:solidFill>
              </a:rPr>
              <a:t>PIXHAWK 6X</a:t>
            </a:r>
            <a:endParaRPr lang="en-US" sz="12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</a:rPr>
              <a:t>Controlador de vuelo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760720" y="1051560"/>
            <a:ext cx="731520" cy="73152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6E56"/>
                </a:solidFill>
              </a:rPr>
              <a:t>GPS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715000" y="571500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15000" y="5715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34AB7"/>
                </a:solidFill>
              </a:rPr>
              <a:t>CAMARA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126480" y="5577840"/>
            <a:ext cx="9144" cy="13716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81160" y="333756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81160" y="33375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F5E5A"/>
                </a:solidFill>
              </a:rPr>
              <a:t>RECEPTOR RC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5F5E5A"/>
                </a:solidFill>
              </a:rPr>
              <a:t>S.Bus / SIYI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281160" y="160020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81160" y="1600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F5E5A"/>
                </a:solidFill>
              </a:rPr>
              <a:t>RADIO TELEMETRIA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5F5E5A"/>
                </a:solidFill>
              </a:rPr>
              <a:t>MAVLink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737360" y="333756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737360" y="33375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F5E5A"/>
                </a:solidFill>
              </a:rPr>
              <a:t>LIDAR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5F5E5A"/>
                </a:solidFill>
              </a:rPr>
              <a:t>I2C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737360" y="489204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37360" y="4892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F5E5A"/>
                </a:solidFill>
              </a:rPr>
              <a:t>SERVO</a:t>
            </a:r>
            <a:endParaRPr lang="en-US" sz="9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5F5E5A"/>
                </a:solidFill>
              </a:rPr>
              <a:t>PWM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02920" y="6163056"/>
            <a:ext cx="320040" cy="0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" y="6080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3"/>
                </a:solidFill>
              </a:rPr>
              <a:t>Alimentacion (bateria-PDB-ESC)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343400" y="6163056"/>
            <a:ext cx="320040" cy="0"/>
          </a:xfrm>
          <a:prstGeom prst="line">
            <a:avLst/>
          </a:prstGeom>
          <a:noFill/>
          <a:ln w="28575">
            <a:solidFill>
              <a:srgbClr val="2874A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6080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3"/>
                </a:solidFill>
              </a:rPr>
              <a:t>Senal de control (FC-ESC)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183880" y="6163056"/>
            <a:ext cx="320040" cy="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95360" y="6080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3"/>
                </a:solidFill>
              </a:rPr>
              <a:t>Bus CAN (FC-GPS)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02920" y="6455664"/>
            <a:ext cx="320040" cy="0"/>
          </a:xfrm>
          <a:prstGeom prst="line">
            <a:avLst/>
          </a:prstGeom>
          <a:noFill/>
          <a:ln w="28575">
            <a:solidFill>
              <a:srgbClr val="6C5CE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4400" y="6373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3"/>
                </a:solidFill>
              </a:rPr>
              <a:t>Serial UART (FC-radio/receptor)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343400" y="6455664"/>
            <a:ext cx="320040" cy="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0" y="6373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3"/>
                </a:solidFill>
              </a:rPr>
              <a:t>Bus I2C (FC-lidar)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183880" y="6455664"/>
            <a:ext cx="320040" cy="0"/>
          </a:xfrm>
          <a:prstGeom prst="line">
            <a:avLst/>
          </a:prstGeom>
          <a:noFill/>
          <a:ln w="28575">
            <a:solidFill>
              <a:srgbClr val="D6891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95360" y="6373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3"/>
                </a:solidFill>
              </a:rPr>
              <a:t>PWM (FC-servo)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694" y="55105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puertos — Pixhawk 6X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0474" y="341457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puerto usa el protocolo adecuado al tipo de dispositivo conectado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09160" y="260604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9160" y="2606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5FA5"/>
                </a:solidFill>
              </a:rPr>
              <a:t>PIXHAWK 6X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85FA5"/>
                </a:solidFill>
              </a:rPr>
              <a:t>FMU + 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flipH="1" flipV="1">
            <a:off x="1645920" y="960120"/>
            <a:ext cx="3383280" cy="1645920"/>
          </a:xfrm>
          <a:prstGeom prst="line">
            <a:avLst/>
          </a:prstGeom>
          <a:noFill/>
          <a:ln w="9525">
            <a:solidFill>
              <a:srgbClr val="16A08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68580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685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6E56"/>
                </a:solidFill>
              </a:rPr>
              <a:t>CAN1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 flipH="1" flipV="1">
            <a:off x="4297680" y="960120"/>
            <a:ext cx="1417320" cy="1645920"/>
          </a:xfrm>
          <a:prstGeom prst="line">
            <a:avLst/>
          </a:prstGeom>
          <a:noFill/>
          <a:ln w="9525">
            <a:solidFill>
              <a:srgbClr val="16A08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68580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685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6E56"/>
                </a:solidFill>
              </a:rPr>
              <a:t>CAN2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 flipV="1">
            <a:off x="6400800" y="960120"/>
            <a:ext cx="548640" cy="1645920"/>
          </a:xfrm>
          <a:prstGeom prst="line">
            <a:avLst/>
          </a:prstGeom>
          <a:noFill/>
          <a:ln w="9525">
            <a:solidFill>
              <a:srgbClr val="16A0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68580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685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6E56"/>
                </a:solidFill>
              </a:rPr>
              <a:t>GPS1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 flipV="1">
            <a:off x="7086600" y="960120"/>
            <a:ext cx="2514600" cy="1645920"/>
          </a:xfrm>
          <a:prstGeom prst="line">
            <a:avLst/>
          </a:prstGeom>
          <a:noFill/>
          <a:ln w="9525">
            <a:solidFill>
              <a:srgbClr val="16A0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0" y="68580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685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6E56"/>
                </a:solidFill>
              </a:rPr>
              <a:t>GPS2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 flipH="1">
            <a:off x="1508760" y="4343400"/>
            <a:ext cx="3520440" cy="1737360"/>
          </a:xfrm>
          <a:prstGeom prst="line">
            <a:avLst/>
          </a:prstGeom>
          <a:noFill/>
          <a:ln w="9525">
            <a:solidFill>
              <a:srgbClr val="D6891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617220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6172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A7517"/>
                </a:solidFill>
              </a:rPr>
              <a:t>POWER1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 flipH="1">
            <a:off x="4206240" y="4343400"/>
            <a:ext cx="1508760" cy="1737360"/>
          </a:xfrm>
          <a:prstGeom prst="line">
            <a:avLst/>
          </a:prstGeom>
          <a:noFill/>
          <a:ln w="9525">
            <a:solidFill>
              <a:srgbClr val="D689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03320" y="617220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6172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A7517"/>
                </a:solidFill>
              </a:rPr>
              <a:t>POWER2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0" y="4343400"/>
            <a:ext cx="502920" cy="1737360"/>
          </a:xfrm>
          <a:prstGeom prst="line">
            <a:avLst/>
          </a:prstGeom>
          <a:noFill/>
          <a:ln w="9525">
            <a:solidFill>
              <a:srgbClr val="D689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617220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6172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A7517"/>
                </a:solidFill>
              </a:rPr>
              <a:t>SPI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86600" y="4343400"/>
            <a:ext cx="2514600" cy="1737360"/>
          </a:xfrm>
          <a:prstGeom prst="line">
            <a:avLst/>
          </a:prstGeom>
          <a:noFill/>
          <a:ln w="9525">
            <a:solidFill>
              <a:srgbClr val="D689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98280" y="617220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98280" y="6172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A7517"/>
                </a:solidFill>
              </a:rPr>
              <a:t>UART4/I2C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 flipH="1" flipV="1">
            <a:off x="1417320" y="2331720"/>
            <a:ext cx="3291840" cy="502920"/>
          </a:xfrm>
          <a:prstGeom prst="line">
            <a:avLst/>
          </a:prstGeom>
          <a:noFill/>
          <a:ln w="9525">
            <a:solidFill>
              <a:srgbClr val="6C5C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14884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148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34AB7"/>
                </a:solidFill>
              </a:rPr>
              <a:t>ETHERNET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 flipH="1">
            <a:off x="1417320" y="3218688"/>
            <a:ext cx="3291840" cy="73152"/>
          </a:xfrm>
          <a:prstGeom prst="line">
            <a:avLst/>
          </a:prstGeom>
          <a:noFill/>
          <a:ln w="9525">
            <a:solidFill>
              <a:srgbClr val="6C5C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10896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1089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34AB7"/>
                </a:solidFill>
              </a:rPr>
              <a:t>DSM RC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 flipH="1">
            <a:off x="1417320" y="3602736"/>
            <a:ext cx="3291840" cy="649224"/>
          </a:xfrm>
          <a:prstGeom prst="line">
            <a:avLst/>
          </a:prstGeom>
          <a:noFill/>
          <a:ln w="9525">
            <a:solidFill>
              <a:srgbClr val="6C5C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06908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69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34AB7"/>
                </a:solidFill>
              </a:rPr>
              <a:t>SD CARD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 flipH="1">
            <a:off x="1417320" y="3986784"/>
            <a:ext cx="3291840" cy="1225296"/>
          </a:xfrm>
          <a:prstGeom prst="line">
            <a:avLst/>
          </a:prstGeom>
          <a:noFill/>
          <a:ln w="9525">
            <a:solidFill>
              <a:srgbClr val="6C5C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502920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5029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34AB7"/>
                </a:solidFill>
              </a:rPr>
              <a:t>I2C SPLIT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 flipV="1">
            <a:off x="7452360" y="2331720"/>
            <a:ext cx="3291840" cy="502920"/>
          </a:xfrm>
          <a:prstGeom prst="line">
            <a:avLst/>
          </a:prstGeom>
          <a:noFill/>
          <a:ln w="9525">
            <a:solidFill>
              <a:srgbClr val="993C1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744200" y="214884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744200" y="2148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3C1D"/>
                </a:solidFill>
              </a:rPr>
              <a:t>TELEM1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452360" y="3218688"/>
            <a:ext cx="3291840" cy="73152"/>
          </a:xfrm>
          <a:prstGeom prst="line">
            <a:avLst/>
          </a:prstGeom>
          <a:noFill/>
          <a:ln w="9525">
            <a:solidFill>
              <a:srgbClr val="993C1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744200" y="310896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744200" y="31089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3C1D"/>
                </a:solidFill>
              </a:rPr>
              <a:t>TELEM2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452360" y="3602736"/>
            <a:ext cx="3291840" cy="649224"/>
          </a:xfrm>
          <a:prstGeom prst="line">
            <a:avLst/>
          </a:prstGeom>
          <a:noFill/>
          <a:ln w="9525">
            <a:solidFill>
              <a:srgbClr val="993C1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744200" y="406908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744200" y="4069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3C1D"/>
                </a:solidFill>
              </a:rPr>
              <a:t>TELEM3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452360" y="3986784"/>
            <a:ext cx="3291840" cy="1225296"/>
          </a:xfrm>
          <a:prstGeom prst="line">
            <a:avLst/>
          </a:prstGeom>
          <a:noFill/>
          <a:ln w="9525">
            <a:solidFill>
              <a:srgbClr val="993C1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744200" y="502920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744200" y="5029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3C1D"/>
                </a:solidFill>
              </a:rPr>
              <a:t>USB-C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743200" y="46177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5E5A"/>
                </a:solidFill>
              </a:rPr>
              <a:t>Puertos adicionales no mostrados: AUX7/AUX8 + RSSI, FMU Debug Port, I/O Debug Port, AD&amp;I/O Port — ver tabla de referencia.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Esquematico completo del sistema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componentes, el cableado y las conexiones en una sola vista</a:t>
            </a:r>
            <a:endParaRPr lang="en-US" sz="1200" dirty="0"/>
          </a:p>
        </p:txBody>
      </p:sp>
      <p:pic>
        <p:nvPicPr>
          <p:cNvPr id="4" name="Image 0" descr="/home/claude/pixhawk_pptx/master_dr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508" y="1005840"/>
            <a:ext cx="10158984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de componentes (1/2)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53949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Componente / Puerto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Que es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Por que va ahi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</a:rPr>
                        <a:t>GPS / Compas (x2)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Receptor GPS RTK con compas integrado, bus CAN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Dos unidades permiten heading dual-antena; CAN soporta multiples sensores en un cable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</a:rPr>
                        <a:t>CAN Hub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Expansor de puertos CAN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El FC solo trae 2 puertos CAN fisicos para 4+ dispositivos CAN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</a:rPr>
                        <a:t>Ethernet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Puerto de red de alta velocidad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Para companion computer con video/lidar, mucho mas rapido que UART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</a:rPr>
                        <a:t>DSM RC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Puerto dedicado receptor Spectrum/DSM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Protocolo con timing propio, distinto del SBUS generico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</a:rPr>
                        <a:t>TELEM1/2/3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Puertos UART full-duplex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Telemetria, GCS y companion computer en paralelo sin interferirse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</a:rPr>
                        <a:t>USB-C / JST-GH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Conexion USB para PC / dispositivo embebido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USB-C para uso ocasional; JST-GH con traba para conexion permanente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</a:rPr>
                        <a:t>Micro SD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Ranura de tarjeta SD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Guarda logs de vuelo para depuracion y ajuste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</a:rPr>
                        <a:t>POWER1/2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Entradas de alimentacion redundantes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Si una falla, la otra mantiene el sistema vivo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de componentes (2/2)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53949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Componente / Puerto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Que es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Por que va ahi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</a:rPr>
                        <a:t>I2C splitter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Expansor de bus I2C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Permite colgar varios sensores I2C simples sin competir por un puerto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</a:rPr>
                        <a:t>Lidar VL53L1X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Sensor de distancia laser corto alcance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Bus I2C de baja velocidad, no necesita CAN ni UART dedicado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</a:rPr>
                        <a:t>Servo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Actuador PWM (gimbal, tren de aterrizaje)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Solo entiende ancho de pulso, se conecta a AUX/MAIN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</a:rPr>
                        <a:t>PDB + ESC + Motores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Reparte corriente de bateria a cada motor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El FC nunca maneja corriente de motor, solo senales de control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</a:rPr>
                        <a:t>PM02D Power Module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Regula y mide la energia de la bateria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Entrega alimentacion limpia y estable al FC via POWER1/2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</a:rPr>
                        <a:t>Radio de telemetria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Radio de largo alcance MAVLink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Usa TELEM (UART) porque es comunicacion serial de baja velocidad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</a:rPr>
                        <a:t>Camara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Captura de imagen/video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Usa USB porque necesita mucho mas ancho de banda que un UART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</a:rPr>
                        <a:t>Debug Ports (FMU/IO)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Acceso de bajo nivel al microcontrolador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4552"/>
                          </a:solidFill>
                        </a:rPr>
                        <a:t>Separados de los puertos normales para no usarse por accidente en vuelo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540</Words>
  <Application>Microsoft Office PowerPoint</Application>
  <PresentationFormat>Panorámica</PresentationFormat>
  <Paragraphs>119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Matias Hinrichsen</cp:lastModifiedBy>
  <cp:revision>2</cp:revision>
  <dcterms:created xsi:type="dcterms:W3CDTF">2026-07-09T22:22:41Z</dcterms:created>
  <dcterms:modified xsi:type="dcterms:W3CDTF">2026-07-09T22:40:44Z</dcterms:modified>
</cp:coreProperties>
</file>